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5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QUY TRÌNH VẬN HÀNH KHO &amp; CHUẨN HÓA CƯỚC</a:t>
            </a:r>
          </a:p>
          <a:p>
            <a:pPr>
              <a:spcBef>
                <a:spcPts val="1500"/>
              </a:spcBef>
              <a:defRPr sz="2000">
                <a:solidFill>
                  <a:srgbClr val="FF6B00"/>
                </a:solidFill>
              </a:defRPr>
            </a:pP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 Shipper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&amp;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Tra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FastMove</a:t>
            </a:r>
            <a:endParaRPr lang="en-US" dirty="0"/>
          </a:p>
          <a:p>
            <a:pPr>
              <a:spcBef>
                <a:spcPts val="1500"/>
              </a:spcBef>
              <a:defRPr sz="2000">
                <a:solidFill>
                  <a:srgbClr val="FF6B00"/>
                </a:solidFill>
              </a:defRPr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CT Giao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hàng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FastMove</a:t>
            </a:r>
            <a:endParaRPr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QUY TRÌNH BÀN GIAO SHIPPER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Shipper cần hoàn tất 3 bước kiểm tra cốt lõi trong 60 giây đầu nhận đơn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BƯỚC 1</a:t>
            </a:r>
          </a:p>
          <a:p>
            <a:pPr>
              <a:spcBef>
                <a:spcPts val="1000"/>
              </a:spcBef>
              <a:defRPr sz="1800" b="1">
                <a:solidFill>
                  <a:srgbClr val="1B365D"/>
                </a:solidFill>
              </a:defRPr>
            </a:pPr>
            <a:r>
              <a:t>Quét mã QR Vận đơn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Dùng App FastMove quét mã kiện hàng để xác nhận trạng thái xuất kho và kích hoạt đếm giờ giao.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BƯỚC 2</a:t>
            </a:r>
          </a:p>
          <a:p>
            <a:pPr>
              <a:spcBef>
                <a:spcPts val="1000"/>
              </a:spcBef>
              <a:defRPr sz="1800" b="1">
                <a:solidFill>
                  <a:srgbClr val="1B365D"/>
                </a:solidFill>
              </a:defRPr>
            </a:pPr>
            <a:r>
              <a:t>Đối chiếu Trọng lượng &amp; Tuyến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Kiểm tra cân nặng thực tế và mã khu vực (MB/MN/LC/LB) khớp tuyệt đối với phiếu kho.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2103120"/>
            <a:ext cx="29626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BƯỚC 3</a:t>
            </a:r>
          </a:p>
          <a:p>
            <a:pPr>
              <a:spcBef>
                <a:spcPts val="1000"/>
              </a:spcBef>
              <a:defRPr sz="1800" b="1">
                <a:solidFill>
                  <a:srgbClr val="1B365D"/>
                </a:solidFill>
              </a:defRPr>
            </a:pPr>
            <a:r>
              <a:t>Xác nhận Trạng thái Cước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Kiểm tra số tiền cước tự động VLOOKUP trên App (Đã thanh toán hoặc Thu hộ COD) trước khi rời kho.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BÁO CÁO HIỆU SUẤT GIAO HÀNG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Tuyến Liên tỉnh Bắc - Nam trễ 18.5%, cần ưu tiên phân luồng giao ca sáng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600" b="1" dirty="0">
                <a:solidFill>
                  <a:srgbClr val="1B365D"/>
                </a:solidFill>
              </a:rPr>
              <a:t>- </a:t>
            </a:r>
            <a:r>
              <a:rPr sz="1600" b="1" dirty="0">
                <a:solidFill>
                  <a:srgbClr val="1B365D"/>
                </a:solidFill>
              </a:rPr>
              <a:t> Tuyến LB01 (Liên </a:t>
            </a:r>
            <a:r>
              <a:rPr sz="1600" b="1" dirty="0" err="1">
                <a:solidFill>
                  <a:srgbClr val="1B365D"/>
                </a:solidFill>
              </a:rPr>
              <a:t>tỉnh</a:t>
            </a:r>
            <a:r>
              <a:rPr sz="1600" b="1" dirty="0">
                <a:solidFill>
                  <a:srgbClr val="1B365D"/>
                </a:solidFill>
              </a:rPr>
              <a:t> Bắc - Nam) </a:t>
            </a:r>
            <a:r>
              <a:rPr sz="1600" b="1" dirty="0" err="1">
                <a:solidFill>
                  <a:srgbClr val="1B365D"/>
                </a:solidFill>
              </a:rPr>
              <a:t>đạt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tỷ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lệ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trễ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cao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nhất</a:t>
            </a:r>
            <a:r>
              <a:rPr sz="1600" b="1" dirty="0">
                <a:solidFill>
                  <a:srgbClr val="1B365D"/>
                </a:solidFill>
              </a:rPr>
              <a:t>:</a:t>
            </a:r>
            <a:r>
              <a:rPr sz="1600" dirty="0">
                <a:solidFill>
                  <a:srgbClr val="2C3E50"/>
                </a:solidFill>
              </a:rPr>
              <a:t> 18.5% </a:t>
            </a:r>
            <a:r>
              <a:rPr sz="1600" dirty="0" err="1">
                <a:solidFill>
                  <a:srgbClr val="2C3E50"/>
                </a:solidFill>
              </a:rPr>
              <a:t>tổng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đơn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trễ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hạn</a:t>
            </a:r>
            <a:r>
              <a:rPr sz="1600" dirty="0">
                <a:solidFill>
                  <a:srgbClr val="2C3E50"/>
                </a:solidFill>
              </a:rPr>
              <a:t> do </a:t>
            </a:r>
            <a:r>
              <a:rPr sz="1600" dirty="0" err="1">
                <a:solidFill>
                  <a:srgbClr val="2C3E50"/>
                </a:solidFill>
              </a:rPr>
              <a:t>nghẽn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tại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kho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trung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chuyển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chính</a:t>
            </a:r>
            <a:r>
              <a:rPr sz="1600" dirty="0">
                <a:solidFill>
                  <a:srgbClr val="2C3E50"/>
                </a:solidFill>
              </a:rPr>
              <a:t> ca </a:t>
            </a:r>
            <a:r>
              <a:rPr sz="1600" dirty="0" err="1">
                <a:solidFill>
                  <a:srgbClr val="2C3E50"/>
                </a:solidFill>
              </a:rPr>
              <a:t>đêm</a:t>
            </a:r>
            <a:r>
              <a:rPr sz="1600" dirty="0">
                <a:solidFill>
                  <a:srgbClr val="2C3E50"/>
                </a:solidFill>
              </a:rPr>
              <a:t>.</a:t>
            </a:r>
          </a:p>
          <a:p>
            <a:pPr>
              <a:spcAft>
                <a:spcPts val="2000"/>
              </a:spcAft>
            </a:pPr>
            <a:r>
              <a:rPr lang="en-US" sz="1600" b="1" dirty="0">
                <a:solidFill>
                  <a:srgbClr val="1B365D"/>
                </a:solidFill>
              </a:rPr>
              <a:t>- </a:t>
            </a:r>
            <a:r>
              <a:rPr sz="1600" b="1" dirty="0">
                <a:solidFill>
                  <a:srgbClr val="1B365D"/>
                </a:solidFill>
              </a:rPr>
              <a:t>Các </a:t>
            </a:r>
            <a:r>
              <a:rPr sz="1600" b="1" dirty="0" err="1">
                <a:solidFill>
                  <a:srgbClr val="1B365D"/>
                </a:solidFill>
              </a:rPr>
              <a:t>tuyến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nội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thành</a:t>
            </a:r>
            <a:r>
              <a:rPr sz="1600" b="1" dirty="0">
                <a:solidFill>
                  <a:srgbClr val="1B365D"/>
                </a:solidFill>
              </a:rPr>
              <a:t> (MB01, MN01) </a:t>
            </a:r>
            <a:r>
              <a:rPr sz="1600" b="1" dirty="0" err="1">
                <a:solidFill>
                  <a:srgbClr val="1B365D"/>
                </a:solidFill>
              </a:rPr>
              <a:t>duy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trì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hiệu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suất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xuất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sắc</a:t>
            </a:r>
            <a:r>
              <a:rPr sz="1600" b="1" dirty="0">
                <a:solidFill>
                  <a:srgbClr val="1B365D"/>
                </a:solidFill>
              </a:rPr>
              <a:t>: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Tỷ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lệ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đúng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giờ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đạt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trên</a:t>
            </a:r>
            <a:r>
              <a:rPr sz="1600" dirty="0">
                <a:solidFill>
                  <a:srgbClr val="2C3E50"/>
                </a:solidFill>
              </a:rPr>
              <a:t> 94.2% </a:t>
            </a:r>
            <a:r>
              <a:rPr sz="1600" dirty="0" err="1">
                <a:solidFill>
                  <a:srgbClr val="2C3E50"/>
                </a:solidFill>
              </a:rPr>
              <a:t>nhờ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phân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bổ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mật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độ</a:t>
            </a:r>
            <a:r>
              <a:rPr sz="1600" dirty="0">
                <a:solidFill>
                  <a:srgbClr val="2C3E50"/>
                </a:solidFill>
              </a:rPr>
              <a:t> shipper </a:t>
            </a:r>
            <a:r>
              <a:rPr sz="1600" dirty="0" err="1">
                <a:solidFill>
                  <a:srgbClr val="2C3E50"/>
                </a:solidFill>
              </a:rPr>
              <a:t>tối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ưu</a:t>
            </a:r>
            <a:r>
              <a:rPr sz="1600" dirty="0">
                <a:solidFill>
                  <a:srgbClr val="2C3E50"/>
                </a:solidFill>
              </a:rPr>
              <a:t>.</a:t>
            </a:r>
          </a:p>
          <a:p>
            <a:pPr>
              <a:spcAft>
                <a:spcPts val="2000"/>
              </a:spcAft>
            </a:pPr>
            <a:r>
              <a:rPr lang="en-US" sz="1600" b="1" dirty="0">
                <a:solidFill>
                  <a:srgbClr val="1B365D"/>
                </a:solidFill>
              </a:rPr>
              <a:t>- </a:t>
            </a:r>
            <a:r>
              <a:rPr sz="1600" b="1" dirty="0" err="1">
                <a:solidFill>
                  <a:srgbClr val="1B365D"/>
                </a:solidFill>
              </a:rPr>
              <a:t>Giải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pháp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điều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phối</a:t>
            </a:r>
            <a:r>
              <a:rPr sz="1600" b="1" dirty="0">
                <a:solidFill>
                  <a:srgbClr val="1B365D"/>
                </a:solidFill>
              </a:rPr>
              <a:t> </a:t>
            </a:r>
            <a:r>
              <a:rPr sz="1600" b="1" dirty="0" err="1">
                <a:solidFill>
                  <a:srgbClr val="1B365D"/>
                </a:solidFill>
              </a:rPr>
              <a:t>ngay</a:t>
            </a:r>
            <a:r>
              <a:rPr sz="1600" b="1" dirty="0">
                <a:solidFill>
                  <a:srgbClr val="1B365D"/>
                </a:solidFill>
              </a:rPr>
              <a:t>: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Phân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luồng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riêng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cho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kiện</a:t>
            </a:r>
            <a:r>
              <a:rPr sz="1600" dirty="0">
                <a:solidFill>
                  <a:srgbClr val="2C3E50"/>
                </a:solidFill>
              </a:rPr>
              <a:t> LB01 </a:t>
            </a:r>
            <a:r>
              <a:rPr sz="1600" dirty="0" err="1">
                <a:solidFill>
                  <a:srgbClr val="2C3E50"/>
                </a:solidFill>
              </a:rPr>
              <a:t>xuất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kho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trước</a:t>
            </a:r>
            <a:r>
              <a:rPr sz="1600" dirty="0">
                <a:solidFill>
                  <a:srgbClr val="2C3E50"/>
                </a:solidFill>
              </a:rPr>
              <a:t> 08:00 </a:t>
            </a:r>
            <a:r>
              <a:rPr sz="1600" dirty="0" err="1">
                <a:solidFill>
                  <a:srgbClr val="2C3E50"/>
                </a:solidFill>
              </a:rPr>
              <a:t>sáng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và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tự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động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hóa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cảnh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báo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cước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phí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trên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hệ</a:t>
            </a:r>
            <a:r>
              <a:rPr sz="1600" dirty="0">
                <a:solidFill>
                  <a:srgbClr val="2C3E50"/>
                </a:solidFill>
              </a:rPr>
              <a:t> </a:t>
            </a:r>
            <a:r>
              <a:rPr sz="1600" dirty="0" err="1">
                <a:solidFill>
                  <a:srgbClr val="2C3E50"/>
                </a:solidFill>
              </a:rPr>
              <a:t>thống</a:t>
            </a:r>
            <a:r>
              <a:rPr sz="1600" dirty="0">
                <a:solidFill>
                  <a:srgbClr val="2C3E5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KẾT QUẢ TỰ ĐỘNG HÓA BẢNG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Tự động hóa VLOOKUP giúp cắt giảm 16 giờ tra cứu thủ công và triệt tiêu lỗi #N/A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16 GIỜ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</a:defRPr>
            </a:pPr>
            <a:r>
              <a:t>Thời gian tiết kiệm mỗi ngày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Loại bỏ hoàn toàn việc tra bảng giá cước thủ công trên sổ giấy.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219456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100%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</a:defRPr>
            </a:pPr>
            <a:r>
              <a:t>Độ chính xác cước phí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Công thức VLOOKUP cố định vùng bảng $A$2:$C$7 tự động tính cước cho 500 dòng.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219456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0 LỖI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</a:defRPr>
            </a:pPr>
            <a:r>
              <a:t>Xử lý triệt để ký tự lạ</a:t>
            </a:r>
          </a:p>
          <a:p>
            <a:pPr>
              <a:spcBef>
                <a:spcPts val="1500"/>
              </a:spcBef>
              <a:defRPr sz="1300">
                <a:solidFill>
                  <a:srgbClr val="2C3E50"/>
                </a:solidFill>
              </a:defRPr>
            </a:pPr>
            <a:r>
              <a:t>Hàm IFERROR và TRIM giúp hệ thống vận hành liên tục không bị gián đoạn.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Đào Tuấn Đạt</cp:lastModifiedBy>
  <cp:revision>2</cp:revision>
  <dcterms:created xsi:type="dcterms:W3CDTF">2013-01-27T09:14:16Z</dcterms:created>
  <dcterms:modified xsi:type="dcterms:W3CDTF">2026-10-26T13:08:40Z</dcterms:modified>
  <cp:category/>
</cp:coreProperties>
</file>